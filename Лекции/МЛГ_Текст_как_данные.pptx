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280160" cy="6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Текст как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C8D4E2"/>
                </a:solidFill>
                <a:latin typeface="Calibri"/>
              </a:rPr>
              <a:t>Дополнительные блоки к курсу «Основы машинного обучения»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FB2C6"/>
                </a:solidFill>
                <a:latin typeface="Calibri"/>
              </a:rPr>
              <a:t>Направление «Цифровая лингвистика и локализация» · магистратура лингвистики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Что в этих блоках и зачем они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Основной курс объясняет машинное обучение на числовых данных: сигналах, временных рядах, таблицах.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Эти пять блоков добавляют то, что нужно именно вам: </a:t>
            </a:r>
            <a:r>
              <a:rPr sz="1900" b="1">
                <a:solidFill>
                  <a:srgbClr val="1B2433"/>
                </a:solidFill>
                <a:latin typeface="Calibri"/>
              </a:rPr>
              <a:t>как в эту схему попадает текст</a:t>
            </a:r>
            <a:r>
              <a:rPr sz="1900" b="0">
                <a:solidFill>
                  <a:srgbClr val="1B2433"/>
                </a:solidFill>
                <a:latin typeface="Calibri"/>
              </a:rPr>
              <a:t> и что при этом с ним происходит.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Каждый блок привязан к лабораторной работе — теория и практика идут парой, а не по отдельности.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900" b="0">
              <a:solidFill>
                <a:srgbClr val="1B2433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Блок 1 «Текст как данные» → Л.р. № 1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Блок 2 «Математический минимум» → Л.р. № 2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Блок 3 «Языковые модели» → Л.р. № 4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Блок 4 «Метрики для текста» → Л.р. № 3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Блок 5 «Данные и разметка» → Л.р. №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B"/>
                </a:solidFill>
                <a:latin typeface="Calibri"/>
              </a:rPr>
              <a:t>БЛОК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9601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433"/>
                </a:solidFill>
                <a:latin typeface="Calibri"/>
              </a:rPr>
              <a:t>Текст как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5B626B"/>
                </a:solidFill>
                <a:latin typeface="Calibri"/>
              </a:rPr>
              <a:t>Модель видит числа. Всё, что вы знаете о языке, попадает в неё ровно одним способом — через то, как вы превратили текст в числа.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1 · ТЕКСТ КАК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Модель не читает 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Любой алгоритм машинного обучения принимает </a:t>
            </a:r>
            <a:r>
              <a:rPr sz="1900" b="1">
                <a:solidFill>
                  <a:srgbClr val="1B2433"/>
                </a:solidFill>
                <a:latin typeface="Calibri"/>
              </a:rPr>
              <a:t>матрицу чисел</a:t>
            </a:r>
            <a:r>
              <a:rPr sz="1900" b="0">
                <a:solidFill>
                  <a:srgbClr val="1B2433"/>
                </a:solidFill>
                <a:latin typeface="Calibri"/>
              </a:rPr>
              <a:t>: строка — объект, столбец — признак.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Текст — не число. Значит, между текстом и моделью всегда стоит шаг </a:t>
            </a:r>
            <a:r>
              <a:rPr sz="1900" b="1">
                <a:solidFill>
                  <a:srgbClr val="1B2433"/>
                </a:solidFill>
                <a:latin typeface="Calibri"/>
              </a:rPr>
              <a:t>векторизации</a:t>
            </a:r>
            <a:r>
              <a:rPr sz="1900" b="0">
                <a:solidFill>
                  <a:srgbClr val="1B2433"/>
                </a:solidFill>
                <a:latin typeface="Calibri"/>
              </a:rPr>
              <a:t>, и этот шаг проектирует человек.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Именно здесь лингвист влияет на результат: выбор единицы, нормализация, отбор признаков — всё это решения о языке.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900" b="0">
              <a:solidFill>
                <a:srgbClr val="1B2433"/>
              </a:solidFill>
              <a:latin typeface="Calibri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Один и тот же классификатор на одном и том же корпусе даёт 0.53 или 0.74 — разница только в способе векторизации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26B"/>
                </a:solidFill>
                <a:latin typeface="Calibri"/>
              </a:rPr>
              <a:t>Проверяется в Л.р. № 1, раздел 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1 · ТЕКСТ КАК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Шаг первый: токенизация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Разбить текст на единицы. Кажется тривиальным — до первого реального файла.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Пунктуация</a:t>
            </a:r>
            <a:r>
              <a:rPr sz="1600" b="0">
                <a:solidFill>
                  <a:srgbClr val="5B626B"/>
                </a:solidFill>
                <a:latin typeface="Calibri"/>
              </a:rPr>
              <a:t>: «серверу.» и «серверу» — одна единица или две?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Дефисы</a:t>
            </a:r>
            <a:r>
              <a:rPr sz="1600" b="0">
                <a:solidFill>
                  <a:srgbClr val="5B626B"/>
                </a:solidFill>
                <a:latin typeface="Calibri"/>
              </a:rPr>
              <a:t>: «из-за», «кто-нибудь», «интернет-магазин»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Плейсхолдеры</a:t>
            </a:r>
            <a:r>
              <a:rPr sz="1600" b="0">
                <a:solidFill>
                  <a:srgbClr val="5B626B"/>
                </a:solidFill>
                <a:latin typeface="Calibri"/>
              </a:rPr>
              <a:t>: `{name}`, `%s`, `&lt;b&gt;` — их нельзя ни резать, ни переводить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Числа и единицы</a:t>
            </a:r>
            <a:r>
              <a:rPr sz="1600" b="0">
                <a:solidFill>
                  <a:srgbClr val="5B626B"/>
                </a:solidFill>
                <a:latin typeface="Calibri"/>
              </a:rPr>
              <a:t>: «25 МБ», «02:00», «TLS 1.3»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Буква ё</a:t>
            </a:r>
            <a:r>
              <a:rPr sz="1600" b="0">
                <a:solidFill>
                  <a:srgbClr val="5B626B"/>
                </a:solidFill>
                <a:latin typeface="Calibri"/>
              </a:rPr>
              <a:t>: «все» и «всё» — разные слова, но пишут по-разному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Готовые токенизаторы: `nltk`, `razdel`, `spaCy`. Регулярное выражение подходит для учебной задачи и ломается на реальной.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1 · ТЕКСТ КАК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Шаг второй: нормализация словоформ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Стемминг</a:t>
            </a:r>
            <a:r>
              <a:rPr sz="1900" b="0">
                <a:solidFill>
                  <a:srgbClr val="1B2433"/>
                </a:solidFill>
                <a:latin typeface="Calibri"/>
              </a:rPr>
              <a:t> — усечение до основы по правилам. Быстро, грубо, без словаря.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«сохранить», «сохранены», «сохранение» → «сохран»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результат не обязан быть словом языка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Лемматизация</a:t>
            </a:r>
            <a:r>
              <a:rPr sz="1900" b="0">
                <a:solidFill>
                  <a:srgbClr val="1B2433"/>
                </a:solidFill>
                <a:latin typeface="Calibri"/>
              </a:rPr>
              <a:t> — приведение к словарной форме. Нужен словарь и разрешение омонимии.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«стали» → «стать» или «сталь»? Зависит от контекста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инструменты для русского: `pymorphy3`, `spaCy`, `Natasha`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Для английского разница невелика. Для русского принципиальна: </a:t>
            </a:r>
            <a:r>
              <a:rPr sz="1900" b="1">
                <a:solidFill>
                  <a:srgbClr val="1B2433"/>
                </a:solidFill>
                <a:latin typeface="Calibri"/>
              </a:rPr>
              <a:t>одна лексема даёт десятки словоформ</a:t>
            </a:r>
            <a:r>
              <a:rPr sz="1900" b="0">
                <a:solidFill>
                  <a:srgbClr val="1B2433"/>
                </a:solidFill>
                <a:latin typeface="Calibri"/>
              </a:rPr>
              <a:t>, и без нормализации модель считает их не связанными между собой признаками.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26B"/>
                </a:solidFill>
                <a:latin typeface="Calibri"/>
              </a:rPr>
              <a:t>В Л.р. № 1 стемминг поднимает точность с 0.53 до 0.60 — на одной и той же модели.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1 · ТЕКСТ КАК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Шаг третий: мешок слов и TF-IDF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Мешок слов</a:t>
            </a:r>
            <a:r>
              <a:rPr sz="1900" b="0">
                <a:solidFill>
                  <a:srgbClr val="1B2433"/>
                </a:solidFill>
                <a:latin typeface="Calibri"/>
              </a:rPr>
              <a:t>: словарь корпуса, вектор из числа вхождений. Порядок слов теряется полностью.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«не удалось подключиться» и «удалось не подключиться» — один и тот же вектор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TF-IDF</a:t>
            </a:r>
            <a:r>
              <a:rPr sz="1900" b="0">
                <a:solidFill>
                  <a:srgbClr val="1B2433"/>
                </a:solidFill>
                <a:latin typeface="Calibri"/>
              </a:rPr>
              <a:t> взвешивает единицу двумя множителями: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TF</a:t>
            </a:r>
            <a:r>
              <a:rPr sz="1600" b="0">
                <a:solidFill>
                  <a:srgbClr val="5B626B"/>
                </a:solidFill>
                <a:latin typeface="Calibri"/>
              </a:rPr>
              <a:t> — как часто она встречается в этом тексте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IDF</a:t>
            </a:r>
            <a:r>
              <a:rPr sz="1600" b="0">
                <a:solidFill>
                  <a:srgbClr val="5B626B"/>
                </a:solidFill>
                <a:latin typeface="Calibri"/>
              </a:rPr>
              <a:t> — насколько она редка по корпусу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то, что есть везде, получает вес около нуля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TF-IDF — не «улучшенный мешок слов», а другой ответ на вопрос «что считать важным». Для классификации по теме он обычно лучше, для коротких строк разница мала.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1 · ТЕКСТ КАК 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Шаг четвёртый: а нужно ли слово вообще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3639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 dirty="0" err="1">
                <a:solidFill>
                  <a:srgbClr val="1B2433"/>
                </a:solidFill>
                <a:latin typeface="Calibri"/>
              </a:rPr>
              <a:t>Символьные</a:t>
            </a:r>
            <a:r>
              <a:rPr sz="1900" b="1" dirty="0">
                <a:solidFill>
                  <a:srgbClr val="1B2433"/>
                </a:solidFill>
                <a:latin typeface="Calibri"/>
              </a:rPr>
              <a:t> n-</a:t>
            </a:r>
            <a:r>
              <a:rPr sz="1900" b="1" dirty="0" err="1">
                <a:solidFill>
                  <a:srgbClr val="1B2433"/>
                </a:solidFill>
                <a:latin typeface="Calibri"/>
              </a:rPr>
              <a:t>граммы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: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признак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—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это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подстрока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из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3-5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символов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.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Понятия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«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слово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» в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такой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модели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нет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dirty="0">
                <a:solidFill>
                  <a:srgbClr val="5B626B"/>
                </a:solidFill>
                <a:latin typeface="Calibri"/>
              </a:rPr>
              <a:t>– «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сохранить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» → `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сох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`, `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охр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`, `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хра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`, `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ран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`, `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ани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`, `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нит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`, `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ить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`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dirty="0">
                <a:solidFill>
                  <a:srgbClr val="5B626B"/>
                </a:solidFill>
                <a:latin typeface="Calibri"/>
              </a:rPr>
              <a:t>– «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сохранение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» 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даёт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те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же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 `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сох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`, `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охр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`, `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хра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`, `</a:t>
            </a:r>
            <a:r>
              <a:rPr sz="1600" b="0" dirty="0" err="1">
                <a:solidFill>
                  <a:srgbClr val="5B626B"/>
                </a:solidFill>
                <a:latin typeface="Calibri"/>
              </a:rPr>
              <a:t>ран</a:t>
            </a:r>
            <a:r>
              <a:rPr sz="1600" b="0" dirty="0">
                <a:solidFill>
                  <a:srgbClr val="5B626B"/>
                </a:solidFill>
                <a:latin typeface="Calibri"/>
              </a:rPr>
              <a:t>`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 dirty="0">
                <a:solidFill>
                  <a:srgbClr val="1B2433"/>
                </a:solidFill>
                <a:latin typeface="Calibri"/>
              </a:rPr>
              <a:t>•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Словоформы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одной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лексемы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автоматически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оказываются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похожими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— </a:t>
            </a:r>
            <a:r>
              <a:rPr sz="1900" b="1" dirty="0" err="1">
                <a:solidFill>
                  <a:srgbClr val="1B2433"/>
                </a:solidFill>
                <a:latin typeface="Calibri"/>
              </a:rPr>
              <a:t>без</a:t>
            </a:r>
            <a:r>
              <a:rPr sz="1900" b="1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1B2433"/>
                </a:solidFill>
                <a:latin typeface="Calibri"/>
              </a:rPr>
              <a:t>словаря</a:t>
            </a:r>
            <a:r>
              <a:rPr sz="1900" b="1" dirty="0">
                <a:solidFill>
                  <a:srgbClr val="1B2433"/>
                </a:solidFill>
                <a:latin typeface="Calibri"/>
              </a:rPr>
              <a:t>, </a:t>
            </a:r>
            <a:r>
              <a:rPr sz="1900" b="1" dirty="0" err="1">
                <a:solidFill>
                  <a:srgbClr val="1B2433"/>
                </a:solidFill>
                <a:latin typeface="Calibri"/>
              </a:rPr>
              <a:t>без</a:t>
            </a:r>
            <a:r>
              <a:rPr sz="1900" b="1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1B2433"/>
                </a:solidFill>
                <a:latin typeface="Calibri"/>
              </a:rPr>
              <a:t>правил</a:t>
            </a:r>
            <a:r>
              <a:rPr sz="1900" b="1" dirty="0">
                <a:solidFill>
                  <a:srgbClr val="1B2433"/>
                </a:solidFill>
                <a:latin typeface="Calibri"/>
              </a:rPr>
              <a:t>, </a:t>
            </a:r>
            <a:r>
              <a:rPr sz="1900" b="1" dirty="0" err="1">
                <a:solidFill>
                  <a:srgbClr val="1B2433"/>
                </a:solidFill>
                <a:latin typeface="Calibri"/>
              </a:rPr>
              <a:t>без</a:t>
            </a:r>
            <a:r>
              <a:rPr sz="1900" b="1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1B2433"/>
                </a:solidFill>
                <a:latin typeface="Calibri"/>
              </a:rPr>
              <a:t>морфологического</a:t>
            </a:r>
            <a:r>
              <a:rPr sz="1900" b="1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1B2433"/>
                </a:solidFill>
                <a:latin typeface="Calibri"/>
              </a:rPr>
              <a:t>анализатора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 dirty="0">
                <a:solidFill>
                  <a:srgbClr val="1B2433"/>
                </a:solidFill>
                <a:latin typeface="Calibri"/>
              </a:rPr>
              <a:t>•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На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коротких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сегментах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интерфейса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символьные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n-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граммы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обычно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выигрывают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у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словарных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признаков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: в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трёх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словах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слов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мало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, а n-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грамм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—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десятки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 dirty="0">
                <a:solidFill>
                  <a:srgbClr val="1B2433"/>
                </a:solidFill>
                <a:latin typeface="Calibri"/>
              </a:rPr>
              <a:t>•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Цена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: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признаков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становится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в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разы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больше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, а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сами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они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нечитаемы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для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B2433"/>
                </a:solidFill>
                <a:latin typeface="Calibri"/>
              </a:rPr>
              <a:t>человека</a:t>
            </a:r>
            <a:r>
              <a:rPr sz="1900" b="0" dirty="0">
                <a:solidFill>
                  <a:srgbClr val="1B2433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633603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26B"/>
                </a:solidFill>
                <a:latin typeface="Calibri"/>
              </a:rPr>
              <a:t>Л.р. № 1: 0.53 на словах против 0.74 на символьных n-граммах.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B"/>
                </a:solidFill>
                <a:latin typeface="Calibri"/>
              </a:rPr>
              <a:t>БЛОК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9601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433"/>
                </a:solidFill>
                <a:latin typeface="Calibri"/>
              </a:rPr>
              <a:t>Математический минимум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5B626B"/>
                </a:solidFill>
                <a:latin typeface="Calibri"/>
              </a:rPr>
              <a:t>Четыре понятия, которых достаточно, чтобы понимать всё остальное в этом курсе. Без вывода формул.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2 · МАТЕМАТИЧЕСКИЙ МИНИМУМ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Вектор — это просто список чисел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Вектор длины n — упорядоченный список из n чисел. И всё.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После векторизации </a:t>
            </a:r>
            <a:r>
              <a:rPr sz="1900" b="1">
                <a:solidFill>
                  <a:srgbClr val="1B2433"/>
                </a:solidFill>
                <a:latin typeface="Calibri"/>
              </a:rPr>
              <a:t>каждый сегмент текста стал точкой</a:t>
            </a:r>
            <a:r>
              <a:rPr sz="1900" b="0">
                <a:solidFill>
                  <a:srgbClr val="1B2433"/>
                </a:solidFill>
                <a:latin typeface="Calibri"/>
              </a:rPr>
              <a:t> в пространстве, где измерений столько, сколько признаков.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корпус из 160 сегментов и 3000 символьных n-грамм → 160 точек в 3000-мерном пространстве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Представить 3000 измерений нельзя, и не нужно. Все операции, которые мы делаем, определены одинаково для любого числа измерений.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900" b="0">
              <a:solidFill>
                <a:srgbClr val="1B2433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Похожие тексты — близкие точки.</a:t>
            </a:r>
            <a:r>
              <a:rPr sz="1900" b="0">
                <a:solidFill>
                  <a:srgbClr val="1B2433"/>
                </a:solidFill>
                <a:latin typeface="Calibri"/>
              </a:rPr>
              <a:t> Вся работа с векторными представлениями держится на этой фразе.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2 · МАТЕМАТИЧЕСКИЙ МИНИМУМ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Скалярное произведение и косинус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Скалярное произведение</a:t>
            </a:r>
            <a:r>
              <a:rPr sz="1900" b="0">
                <a:solidFill>
                  <a:srgbClr val="1B2433"/>
                </a:solidFill>
                <a:latin typeface="Calibri"/>
              </a:rPr>
              <a:t> двух векторов: перемножить их числа попарно и сложить результаты.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если оба вектора велики в одних и тех же местах, сумма большая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если у них ненулевые значения в разных местах, сумма мала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Косинусная близость</a:t>
            </a:r>
            <a:r>
              <a:rPr sz="1900" b="0">
                <a:solidFill>
                  <a:srgbClr val="1B2433"/>
                </a:solidFill>
                <a:latin typeface="Calibri"/>
              </a:rPr>
              <a:t> — то же самое, но поделённое на длины векторов: получается число от 0 до 1.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1 — векторы смотрят в одну сторону (тексты похожи по составу)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0 — нет ни одного общего признака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Деление на длину означает, что </a:t>
            </a:r>
            <a:r>
              <a:rPr sz="1900" b="1">
                <a:solidFill>
                  <a:srgbClr val="1B2433"/>
                </a:solidFill>
                <a:latin typeface="Calibri"/>
              </a:rPr>
              <a:t>длина текста перестаёт влиять</a:t>
            </a:r>
            <a:r>
              <a:rPr sz="1900" b="0">
                <a:solidFill>
                  <a:srgbClr val="1B2433"/>
                </a:solidFill>
                <a:latin typeface="Calibri"/>
              </a:rPr>
              <a:t>: сравнивается состав, а не объём. Отсюда и разница с расстоянием Левенштейна, которое от длины зависит напрямую.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26B"/>
                </a:solidFill>
                <a:latin typeface="Calibri"/>
              </a:rPr>
              <a:t>Л.р. № 2, разделы 3-4: два способа мерить сходство и где они расходятся.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2 · МАТЕМАТИЧЕСКИЙ МИНИМУМ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Что значит «обучить модель»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У модели есть </a:t>
            </a:r>
            <a:r>
              <a:rPr sz="1900" b="1">
                <a:solidFill>
                  <a:srgbClr val="1B2433"/>
                </a:solidFill>
                <a:latin typeface="Calibri"/>
              </a:rPr>
              <a:t>веса</a:t>
            </a:r>
            <a:r>
              <a:rPr sz="1900" b="0">
                <a:solidFill>
                  <a:srgbClr val="1B2433"/>
                </a:solidFill>
                <a:latin typeface="Calibri"/>
              </a:rPr>
              <a:t> — числа, которые она может менять.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Есть </a:t>
            </a:r>
            <a:r>
              <a:rPr sz="1900" b="1">
                <a:solidFill>
                  <a:srgbClr val="1B2433"/>
                </a:solidFill>
                <a:latin typeface="Calibri"/>
              </a:rPr>
              <a:t>функция потерь</a:t>
            </a:r>
            <a:r>
              <a:rPr sz="1900" b="0">
                <a:solidFill>
                  <a:srgbClr val="1B2433"/>
                </a:solidFill>
                <a:latin typeface="Calibri"/>
              </a:rPr>
              <a:t> — число, показывающее, насколько сильно предсказания расходятся с правильными ответами.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Обучение = </a:t>
            </a:r>
            <a:r>
              <a:rPr sz="1900" b="1">
                <a:solidFill>
                  <a:srgbClr val="1B2433"/>
                </a:solidFill>
                <a:latin typeface="Calibri"/>
              </a:rPr>
              <a:t>подобрать веса так, чтобы потери стали меньше</a:t>
            </a:r>
            <a:r>
              <a:rPr sz="1900" b="0">
                <a:solidFill>
                  <a:srgbClr val="1B2433"/>
                </a:solidFill>
                <a:latin typeface="Calibri"/>
              </a:rPr>
              <a:t>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никакого понимания, замысла или знания о мире в этом нет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модель не «выучила язык», она подобрала числа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Отсюда следует всё остальное: модель воспроизводит то, что было в обучающих данных, включая их ошибки и перекосы. И отсюда же правило: </a:t>
            </a:r>
            <a:r>
              <a:rPr sz="1900" b="1">
                <a:solidFill>
                  <a:srgbClr val="1B2433"/>
                </a:solidFill>
                <a:latin typeface="Calibri"/>
              </a:rPr>
              <a:t>модель проверяют на данных, которых она не видела</a:t>
            </a:r>
            <a:r>
              <a:rPr sz="1900" b="0">
                <a:solidFill>
                  <a:srgbClr val="1B2433"/>
                </a:solidFill>
                <a:latin typeface="Calibri"/>
              </a:rPr>
              <a:t> — иначе вы измеряете память, а не способность обобщать.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2 · МАТЕМАТИЧЕСКИЙ МИНИМУМ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Градиент: как именно подбирают веса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Перебрать все комбинации весов невозможно: их миллионы.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Градиент</a:t>
            </a:r>
            <a:r>
              <a:rPr sz="1900" b="0">
                <a:solidFill>
                  <a:srgbClr val="1B2433"/>
                </a:solidFill>
                <a:latin typeface="Calibri"/>
              </a:rPr>
              <a:t> отвечает на вопрос: если чуть-чуть изменить каждый вес, в какую сторону потери убывают быстрее всего?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Дальше — шаг в эту сторону, пересчёт, снова шаг. Это </a:t>
            </a:r>
            <a:r>
              <a:rPr sz="1900" b="1">
                <a:solidFill>
                  <a:srgbClr val="1B2433"/>
                </a:solidFill>
                <a:latin typeface="Calibri"/>
              </a:rPr>
              <a:t>градиентный спуск</a:t>
            </a:r>
            <a:r>
              <a:rPr sz="1900" b="0">
                <a:solidFill>
                  <a:srgbClr val="1B2433"/>
                </a:solidFill>
                <a:latin typeface="Calibri"/>
              </a:rPr>
              <a:t>: спуск по склону в тумане, на ощупь, маленькими шагами.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размер шага (`learning rate`) слишком велик — модель перескочит низину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слишком мал — обучение не закончится никогда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Adam, SGD, RMSprop — разные способы выбирать шаг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Знать формулу градиента не требуется. Требуется понимать, что </a:t>
            </a:r>
            <a:r>
              <a:rPr sz="1900" b="1">
                <a:solidFill>
                  <a:srgbClr val="1B2433"/>
                </a:solidFill>
                <a:latin typeface="Calibri"/>
              </a:rPr>
              <a:t>обучение — итеративный подбор</a:t>
            </a:r>
            <a:r>
              <a:rPr sz="1900" b="0">
                <a:solidFill>
                  <a:srgbClr val="1B2433"/>
                </a:solidFill>
                <a:latin typeface="Calibri"/>
              </a:rPr>
              <a:t>, и потому его результат зависит от начальной точки и от случайности.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B"/>
                </a:solidFill>
                <a:latin typeface="Calibri"/>
              </a:rPr>
              <a:t>БЛОК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96012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dirty="0" err="1">
                <a:solidFill>
                  <a:srgbClr val="1B2433"/>
                </a:solidFill>
                <a:latin typeface="Calibri"/>
              </a:rPr>
              <a:t>Языковые</a:t>
            </a:r>
            <a:r>
              <a:rPr sz="3600" b="1" i="0" dirty="0">
                <a:solidFill>
                  <a:srgbClr val="1B2433"/>
                </a:solidFill>
                <a:latin typeface="Calibri"/>
              </a:rPr>
              <a:t> </a:t>
            </a:r>
            <a:r>
              <a:rPr sz="3600" b="1" i="0" dirty="0" err="1">
                <a:solidFill>
                  <a:srgbClr val="1B2433"/>
                </a:solidFill>
                <a:latin typeface="Calibri"/>
              </a:rPr>
              <a:t>модели</a:t>
            </a:r>
            <a:endParaRPr sz="3600" b="1" i="0" dirty="0">
              <a:solidFill>
                <a:srgbClr val="1B2433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5B626B"/>
                </a:solidFill>
                <a:latin typeface="Calibri"/>
              </a:rPr>
              <a:t>От n-грамм до трансформера: что изменилось и почему это важно для вашей работы.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3 · ЯЗЫКОВЫЕ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Задача языковой модели — одна и та же с 1950-х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Предсказать следующую единицу по предыдущим.</a:t>
            </a:r>
            <a:r>
              <a:rPr sz="1900" b="0">
                <a:solidFill>
                  <a:srgbClr val="1B2433"/>
                </a:solidFill>
                <a:latin typeface="Calibri"/>
              </a:rPr>
              <a:t> Всё.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единицей может быть символ, слово или часть слова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модель выдаёт распределение вероятностей по всему словарю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Из этой задачи вырастает всё остальное: генерация текста, подсказки ввода, перевод, ответы на вопросы.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900" b="0">
              <a:solidFill>
                <a:srgbClr val="1B2433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Важно: </a:t>
            </a:r>
            <a:r>
              <a:rPr sz="1900" b="1">
                <a:solidFill>
                  <a:srgbClr val="1B2433"/>
                </a:solidFill>
                <a:latin typeface="Calibri"/>
              </a:rPr>
              <a:t>в постановке задачи нет ничего про смысл.</a:t>
            </a:r>
            <a:r>
              <a:rPr sz="1900" b="0">
                <a:solidFill>
                  <a:srgbClr val="1B2433"/>
                </a:solidFill>
                <a:latin typeface="Calibri"/>
              </a:rPr>
              <a:t> Модель оптимизирует правдоподобие продолжения, а не истинность, уместность или пользу. Всё, что выглядит как понимание, — следствие статистики на очень больших объёмах текста.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3 · ЯЗЫКОВЫЕ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Три поколения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N-граммы</a:t>
            </a:r>
            <a:r>
              <a:rPr sz="1900" b="0">
                <a:solidFill>
                  <a:srgbClr val="1B2433"/>
                </a:solidFill>
                <a:latin typeface="Calibri"/>
              </a:rPr>
              <a:t> (до ~2010). Считаем, какие слова за какими шли, по таблице частот.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просто и быстро; контекст — два-три слова, дальше данных не хватает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Рекуррентные сети</a:t>
            </a:r>
            <a:r>
              <a:rPr sz="1900" b="0">
                <a:solidFill>
                  <a:srgbClr val="1B2433"/>
                </a:solidFill>
                <a:latin typeface="Calibri"/>
              </a:rPr>
              <a:t> (2010-2017). Состояние передаётся по цепочке от единицы к единице.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контекст в принципе не ограничен, на практике затухает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обучение последовательно, распараллелить нельзя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Трансформеры</a:t>
            </a:r>
            <a:r>
              <a:rPr sz="1900" b="0">
                <a:solidFill>
                  <a:srgbClr val="1B2433"/>
                </a:solidFill>
                <a:latin typeface="Calibri"/>
              </a:rPr>
              <a:t> (с 2017). Механизм </a:t>
            </a:r>
            <a:r>
              <a:rPr sz="1900" b="1">
                <a:solidFill>
                  <a:srgbClr val="1B2433"/>
                </a:solidFill>
                <a:latin typeface="Calibri"/>
              </a:rPr>
              <a:t>внимания</a:t>
            </a:r>
            <a:r>
              <a:rPr sz="1900" b="0">
                <a:solidFill>
                  <a:srgbClr val="1B2433"/>
                </a:solidFill>
                <a:latin typeface="Calibri"/>
              </a:rPr>
              <a:t>: каждая позиция напрямую видит все остальные.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дальний контекст не теряется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обучение параллельно, отсюда возможность огромных моделей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26B"/>
                </a:solidFill>
                <a:latin typeface="Calibri"/>
              </a:rPr>
              <a:t>Л.р. № 4 — работающая посимвольная RNN: видно и что она умеет, и почему её сменили.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3 · ЯЗЫКОВЫЕ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Что дало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В рекуррентной сети, чтобы связать слово с тем, что было двадцать слов назад, информация должна пройти двадцать шагов и на каждом частично потеряться.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Внимание</a:t>
            </a:r>
            <a:r>
              <a:rPr sz="1900" b="0">
                <a:solidFill>
                  <a:srgbClr val="1B2433"/>
                </a:solidFill>
                <a:latin typeface="Calibri"/>
              </a:rPr>
              <a:t> убирает цепочку: каждая позиция сразу получает доступ ко всем остальным и сама решает, на какие смотреть.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согласование на большом расстоянии перестаёт быть проблемой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разрешение анафоры становится в принципе достижимым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цена: вычисления растут квадратично от длины текста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Для лингвиста здесь важно вот что: </a:t>
            </a:r>
            <a:r>
              <a:rPr sz="1900" b="1">
                <a:solidFill>
                  <a:srgbClr val="1B2433"/>
                </a:solidFill>
                <a:latin typeface="Calibri"/>
              </a:rPr>
              <a:t>модель научилась учитывать структуру предложения, не имея никакого её описания.</a:t>
            </a:r>
            <a:r>
              <a:rPr sz="1900" b="0">
                <a:solidFill>
                  <a:srgbClr val="1B2433"/>
                </a:solidFill>
                <a:latin typeface="Calibri"/>
              </a:rPr>
              <a:t> Синтаксис в неё не закладывали.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3 · ЯЗЫКОВЫЕ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Предобучение и дообучение: почему модели берут готовыми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Современная схема состоит из двух этапов, и первый вам недоступен и не нужен: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предобучение</a:t>
            </a:r>
            <a:r>
              <a:rPr sz="1600" b="0">
                <a:solidFill>
                  <a:srgbClr val="5B626B"/>
                </a:solidFill>
                <a:latin typeface="Calibri"/>
              </a:rPr>
              <a:t>: месяцы вычислений на миллиардах слов, стоимость — миллионы долларов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дообучение</a:t>
            </a:r>
            <a:r>
              <a:rPr sz="1600" b="0">
                <a:solidFill>
                  <a:srgbClr val="5B626B"/>
                </a:solidFill>
                <a:latin typeface="Calibri"/>
              </a:rPr>
              <a:t>: часы на вашей задаче и вашей тысяче примеров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Отсюда практический вывод для локализации: </a:t>
            </a:r>
            <a:r>
              <a:rPr sz="1900" b="1">
                <a:solidFill>
                  <a:srgbClr val="1B2433"/>
                </a:solidFill>
                <a:latin typeface="Calibri"/>
              </a:rPr>
              <a:t>свою модель перевода вы обучать не будете.</a:t>
            </a:r>
            <a:r>
              <a:rPr sz="1900" b="0">
                <a:solidFill>
                  <a:srgbClr val="1B2433"/>
                </a:solidFill>
                <a:latin typeface="Calibri"/>
              </a:rPr>
              <a:t> Вы будете брать готовую, оценивать её на своих данных и решать, годится ли она.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900" b="0">
              <a:solidFill>
                <a:srgbClr val="1B2433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Это не упрощение курса, а описание реальной работы. Именно поэтому центральная лабораторная — не про обучение, а про </a:t>
            </a:r>
            <a:r>
              <a:rPr sz="1900" b="1">
                <a:solidFill>
                  <a:srgbClr val="1B2433"/>
                </a:solidFill>
                <a:latin typeface="Calibri"/>
              </a:rPr>
              <a:t>оценку качества</a:t>
            </a:r>
            <a:r>
              <a:rPr sz="1900" b="0">
                <a:solidFill>
                  <a:srgbClr val="1B2433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26B"/>
                </a:solidFill>
                <a:latin typeface="Calibri"/>
              </a:rPr>
              <a:t>Л.р. № 3 работает ровно по этой схеме: готовая модель, своя оценка.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B"/>
                </a:solidFill>
                <a:latin typeface="Calibri"/>
              </a:rPr>
              <a:t>БЛОК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9601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433"/>
                </a:solidFill>
                <a:latin typeface="Calibri"/>
              </a:rPr>
              <a:t>Метрики для текста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5B626B"/>
                </a:solidFill>
                <a:latin typeface="Calibri"/>
              </a:rPr>
              <a:t>Как измеряют качество перевода, что при этом не измеряется и где метрика вводит в заблуждение.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4 · МЕТРИКИ ДЛЯ ТЕКСТА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Почему accuracy здесь не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В классификации ответ либо совпал с правильным, либо нет. Для перевода так нельзя.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«Сохранить изменения» и «Сохранение изменений» оба допустимы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точное совпадение строк дало бы 0 за верный перевод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У предложения </a:t>
            </a:r>
            <a:r>
              <a:rPr sz="1900" b="1">
                <a:solidFill>
                  <a:srgbClr val="1B2433"/>
                </a:solidFill>
                <a:latin typeface="Calibri"/>
              </a:rPr>
              <a:t>нет одного правильного перевода</a:t>
            </a:r>
            <a:r>
              <a:rPr sz="1900" b="0">
                <a:solidFill>
                  <a:srgbClr val="1B2433"/>
                </a:solidFill>
                <a:latin typeface="Calibri"/>
              </a:rPr>
              <a:t>. Значит, нужна метрика, измеряющая степень совпадения с эталоном.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900" b="0">
              <a:solidFill>
                <a:srgbClr val="1B2433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И сразу же — главное ограничение всего подхода: </a:t>
            </a:r>
            <a:r>
              <a:rPr sz="1900" b="1">
                <a:solidFill>
                  <a:srgbClr val="1B2433"/>
                </a:solidFill>
                <a:latin typeface="Calibri"/>
              </a:rPr>
              <a:t>эталон один, а верных переводов много.</a:t>
            </a:r>
            <a:r>
              <a:rPr sz="1900" b="0">
                <a:solidFill>
                  <a:srgbClr val="1B2433"/>
                </a:solidFill>
                <a:latin typeface="Calibri"/>
              </a:rPr>
              <a:t> Всё, что метрика может сказать, — насколько гипотеза похожа на один конкретный человеческий вариант.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4 · МЕТРИКИ ДЛЯ ТЕКСТА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BLEU: что он на самом деле считает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Для n = 1, 2, 3, 4 берётся доля n-грамм гипотезы, нашедшихся в эталоне. Четыре доли усредняются. Добавляется штраф за слишком короткий ответ.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Чего в этом определении нет: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смысла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грамматичности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синонимов и словоформ: «сохранить» и «сохранение» — разные слова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BLEU создавался для сравнения систем на больших корпусах</a:t>
            </a:r>
            <a:r>
              <a:rPr sz="1900" b="0">
                <a:solidFill>
                  <a:srgbClr val="1B2433"/>
                </a:solidFill>
                <a:latin typeface="Calibri"/>
              </a:rPr>
              <a:t> и для этого годится. Для оценки отдельного сегмента он не предназначен — и на коротких строках интерфейса даёт величины, почти ни из чего не следующие.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4 · МЕТРИКИ ДЛЯ ТЕКСТА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chrF и почему для русского он подходит лучше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chrF сравнивает </a:t>
            </a:r>
            <a:r>
              <a:rPr sz="1900" b="1">
                <a:solidFill>
                  <a:srgbClr val="1B2433"/>
                </a:solidFill>
                <a:latin typeface="Calibri"/>
              </a:rPr>
              <a:t>символьные n-граммы</a:t>
            </a:r>
            <a:r>
              <a:rPr sz="1900" b="0">
                <a:solidFill>
                  <a:srgbClr val="1B2433"/>
                </a:solidFill>
                <a:latin typeface="Calibri"/>
              </a:rPr>
              <a:t>, а не слова, и считает F-меру: точность вместе с полнотой.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«сохранить» и «сохранение» имеют общую основу, значит общие символьные n-граммы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словоизменение перестаёт полностью обнулять совпадение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Для языков с богатой морфологией это существенно: chrF коррелирует с человеческой оценкой заметно лучше BLEU.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900" b="0">
              <a:solidFill>
                <a:srgbClr val="1B2433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Другие метрики, о которых стоит знать: </a:t>
            </a:r>
            <a:r>
              <a:rPr sz="1900" b="1">
                <a:solidFill>
                  <a:srgbClr val="1B2433"/>
                </a:solidFill>
                <a:latin typeface="Calibri"/>
              </a:rPr>
              <a:t>TER</a:t>
            </a:r>
            <a:r>
              <a:rPr sz="1900" b="0">
                <a:solidFill>
                  <a:srgbClr val="1B2433"/>
                </a:solidFill>
                <a:latin typeface="Calibri"/>
              </a:rPr>
              <a:t> — сколько правок нужно постредактору; </a:t>
            </a:r>
            <a:r>
              <a:rPr sz="1900" b="1">
                <a:solidFill>
                  <a:srgbClr val="1B2433"/>
                </a:solidFill>
                <a:latin typeface="Calibri"/>
              </a:rPr>
              <a:t>COMET</a:t>
            </a:r>
            <a:r>
              <a:rPr sz="1900" b="0">
                <a:solidFill>
                  <a:srgbClr val="1B2433"/>
                </a:solidFill>
                <a:latin typeface="Calibri"/>
              </a:rPr>
              <a:t> — нейросетевая оценка, обученная на человеческих суждениях, ближе всего к человеку и дороже всех в вычислении.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4 · МЕТРИКИ ДЛЯ ТЕКСТА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Слепые зоны: что метрика не поймает никогда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Потерянное отрицание.</a:t>
            </a:r>
            <a:r>
              <a:rPr sz="1900" b="0">
                <a:solidFill>
                  <a:srgbClr val="1B2433"/>
                </a:solidFill>
                <a:latin typeface="Calibri"/>
              </a:rPr>
              <a:t> «Не удалось подключиться» → «Удалось подключиться». Смысл противоположный, BLEU 0.78, chrF 0.92.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Сломанный плейсхолдер.</a:t>
            </a:r>
            <a:r>
              <a:rPr sz="1900" b="0">
                <a:solidFill>
                  <a:srgbClr val="1B2433"/>
                </a:solidFill>
                <a:latin typeface="Calibri"/>
              </a:rPr>
              <a:t> `{name}` → `{имя}`: строка не соберётся, продукт сломан, BLEU 0.63.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Синонимичная перефразировка.</a:t>
            </a:r>
            <a:r>
              <a:rPr sz="1900" b="0">
                <a:solidFill>
                  <a:srgbClr val="1B2433"/>
                </a:solidFill>
                <a:latin typeface="Calibri"/>
              </a:rPr>
              <a:t> Верный перевод другими словами получает низкую оценку и выглядит как ошибка.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900" b="0">
              <a:solidFill>
                <a:srgbClr val="1B2433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Общая причина одна: </a:t>
            </a:r>
            <a:r>
              <a:rPr sz="1900" b="1">
                <a:solidFill>
                  <a:srgbClr val="1B2433"/>
                </a:solidFill>
                <a:latin typeface="Calibri"/>
              </a:rPr>
              <a:t>все эти метрики сравнивают форму.</a:t>
            </a:r>
            <a:r>
              <a:rPr sz="1900" b="0">
                <a:solidFill>
                  <a:srgbClr val="1B2433"/>
                </a:solidFill>
                <a:latin typeface="Calibri"/>
              </a:rPr>
              <a:t> Инверсия смысла при минимальной правке формы для них невидима по построению. Это не дефект реализации.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26B"/>
                </a:solidFill>
                <a:latin typeface="Calibri"/>
              </a:rPr>
              <a:t>Числа — из Л.р. № 3, раздел 7. Там же студент находит такие случаи сам.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4 · МЕТРИКИ ДЛЯ ТЕКСТА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Чем закрывают слепые зоны метрик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Раз метрика слепа по построению, её не чинят — её </a:t>
            </a:r>
            <a:r>
              <a:rPr sz="1900" b="1">
                <a:solidFill>
                  <a:srgbClr val="1B2433"/>
                </a:solidFill>
                <a:latin typeface="Calibri"/>
              </a:rPr>
              <a:t>дополняют</a:t>
            </a:r>
            <a:r>
              <a:rPr sz="1900" b="0">
                <a:solidFill>
                  <a:srgbClr val="1B2433"/>
                </a:solidFill>
                <a:latin typeface="Calibri"/>
              </a:rPr>
              <a:t>. В приёмке локализации используют три инструмента сразу.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Формальные проверки</a:t>
            </a:r>
            <a:r>
              <a:rPr sz="1600" b="0">
                <a:solidFill>
                  <a:srgbClr val="5B626B"/>
                </a:solidFill>
                <a:latin typeface="Calibri"/>
              </a:rPr>
              <a:t>: плейсхолдеры, числа, отрицание, длина. Ловят то, что проверяется механически, — и ловят полностью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Метрики (BLEU, chrF)</a:t>
            </a:r>
            <a:r>
              <a:rPr sz="1600" b="0">
                <a:solidFill>
                  <a:srgbClr val="5B626B"/>
                </a:solidFill>
                <a:latin typeface="Calibri"/>
              </a:rPr>
              <a:t>: сравнение систем на большом корпусе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Семантическая близость (COMET и подобные)</a:t>
            </a:r>
            <a:r>
              <a:rPr sz="1600" b="0">
                <a:solidFill>
                  <a:srgbClr val="5B626B"/>
                </a:solidFill>
                <a:latin typeface="Calibri"/>
              </a:rPr>
              <a:t>: улавливает искажение смысла и снимает штраф за синонимию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На корпусе Л.р. № 3 из 160 сегментов формальные проверки пометили </a:t>
            </a:r>
            <a:r>
              <a:rPr sz="1900" b="1">
                <a:solidFill>
                  <a:srgbClr val="1B2433"/>
                </a:solidFill>
                <a:latin typeface="Calibri"/>
              </a:rPr>
              <a:t>8</a:t>
            </a:r>
            <a:r>
              <a:rPr sz="1900" b="0">
                <a:solidFill>
                  <a:srgbClr val="1B2433"/>
                </a:solidFill>
                <a:latin typeface="Calibri"/>
              </a:rPr>
              <a:t>, а порог по BLEU — </a:t>
            </a:r>
            <a:r>
              <a:rPr sz="1900" b="1">
                <a:solidFill>
                  <a:srgbClr val="1B2433"/>
                </a:solidFill>
                <a:latin typeface="Calibri"/>
              </a:rPr>
              <a:t>78</a:t>
            </a:r>
            <a:r>
              <a:rPr sz="1900" b="0">
                <a:solidFill>
                  <a:srgbClr val="1B2433"/>
                </a:solidFill>
                <a:latin typeface="Calibri"/>
              </a:rPr>
              <a:t>. При этом сломанный плейсхолдер в одном сегменте нашли только проверки: его BLEU был выше медианы.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900" b="0">
              <a:solidFill>
                <a:srgbClr val="1B2433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Средство ценно не полнотой, а отношением найденного к просмотренному.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26B"/>
                </a:solidFill>
                <a:latin typeface="Calibri"/>
              </a:rPr>
              <a:t>Л.р. № 3, раздел 8: студент строит оба средства и измеряет их.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4 · МЕТРИКИ ДЛЯ ТЕКСТА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Когда метрике можно верить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Можно</a:t>
            </a:r>
            <a:r>
              <a:rPr sz="1900" b="0">
                <a:solidFill>
                  <a:srgbClr val="1B2433"/>
                </a:solidFill>
                <a:latin typeface="Calibri"/>
              </a:rPr>
              <a:t>: сравнить две системы перевода на корпусе из тысяч сегментов; отследить, не ухудшилась ли модель после обновления; отобрать сегменты, заведомо требующие внимания.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Нельзя</a:t>
            </a:r>
            <a:r>
              <a:rPr sz="1900" b="0">
                <a:solidFill>
                  <a:srgbClr val="1B2433"/>
                </a:solidFill>
                <a:latin typeface="Calibri"/>
              </a:rPr>
              <a:t>: принять или отклонить отдельный сегмент; оценить качество на коротких строках интерфейса; заменить метрикой приёмку человеком.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900" b="0">
              <a:solidFill>
                <a:srgbClr val="1B2433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Ответ на вопрос заказчика «можно ли принимать перевод, если средний BLEU выше 0.6» — </a:t>
            </a:r>
            <a:r>
              <a:rPr sz="1900" b="1">
                <a:solidFill>
                  <a:srgbClr val="1B2433"/>
                </a:solidFill>
                <a:latin typeface="Calibri"/>
              </a:rPr>
              <a:t>нет</a:t>
            </a:r>
            <a:r>
              <a:rPr sz="1900" b="0">
                <a:solidFill>
                  <a:srgbClr val="1B2433"/>
                </a:solidFill>
                <a:latin typeface="Calibri"/>
              </a:rPr>
              <a:t>, и вы теперь можете объяснить почему, а не сослаться на интуицию. Это и есть профессиональная позиция, которую даёт курс.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03A2B"/>
                </a:solidFill>
                <a:latin typeface="Calibri"/>
              </a:rPr>
              <a:t>БЛОК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9601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433"/>
                </a:solidFill>
                <a:latin typeface="Calibri"/>
              </a:rPr>
              <a:t>Данные и разметка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5B626B"/>
                </a:solidFill>
                <a:latin typeface="Calibri"/>
              </a:rPr>
              <a:t>Качество разметки важнее выбора модели. Это и есть та часть работы, которую делает лингвист.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5 · ДАННЫЕ И РАЗМЕТКА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Разметка важнее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Смена модели при одних и тех же данных обычно даёт единицы процентов. Улучшение данных — десятки.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в Л.р. № 1 разница между тремя моделями меньше, чем между двумя способами векторизации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кривая обучения показывает: качество упирается в объём корпуса, а не в архитектуру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Модель воспроизводит разметку, включая её ошибки.</a:t>
            </a:r>
            <a:r>
              <a:rPr sz="1900" b="0">
                <a:solidFill>
                  <a:srgbClr val="1B2433"/>
                </a:solidFill>
                <a:latin typeface="Calibri"/>
              </a:rPr>
              <a:t> Противоречивая разметка ставит потолок качества, который не пробить никакой архитектурой.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900" b="0">
              <a:solidFill>
                <a:srgbClr val="1B2433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Отсюда профессия: разметчик, редактор разметки, автор руководства для разметчиков. Это работа лингвиста, и её не автоматизировать — автоматизировать можно только применение уже принятого решения.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5 · ДАННЫЕ И РАЗМЕТКА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Что делать, когда качество упёрлось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Модель не даёт нужного качества. Три очевидных хода — и что они дают на самом деле (измерено в Л.р. № 1):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подобрать гиперпараметры</a:t>
            </a:r>
            <a:r>
              <a:rPr sz="1600" b="0">
                <a:solidFill>
                  <a:srgbClr val="5B626B"/>
                </a:solidFill>
                <a:latin typeface="Calibri"/>
              </a:rPr>
              <a:t> — прирост около нуля: значения по умолчанию уже оптимальны на малой выборке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добавить признаков</a:t>
            </a:r>
            <a:r>
              <a:rPr sz="1600" b="0">
                <a:solidFill>
                  <a:srgbClr val="5B626B"/>
                </a:solidFill>
                <a:latin typeface="Calibri"/>
              </a:rPr>
              <a:t> — прирост отрицательный: больше признаков при малом числе примеров означает подстройку под шум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сменить модель</a:t>
            </a:r>
            <a:r>
              <a:rPr sz="1600" b="0">
                <a:solidFill>
                  <a:srgbClr val="5B626B"/>
                </a:solidFill>
                <a:latin typeface="Calibri"/>
              </a:rPr>
              <a:t> — разница между моделями меньше, чем между способами векторизации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B626B"/>
                </a:solidFill>
                <a:latin typeface="Calibri"/>
              </a:rPr>
              <a:t>разметить больше данных</a:t>
            </a:r>
            <a:r>
              <a:rPr sz="1600" b="0">
                <a:solidFill>
                  <a:srgbClr val="5B626B"/>
                </a:solidFill>
                <a:latin typeface="Calibri"/>
              </a:rPr>
              <a:t> — на реальном корпусе рост с 0.55 до 0.83 при увеличении выборки в одиннадцать раз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Порядок действий при нехватке качества: сначала данные, потом признаки, и только потом модель.</a:t>
            </a:r>
            <a:r>
              <a:rPr sz="1900" b="0">
                <a:solidFill>
                  <a:srgbClr val="1B2433"/>
                </a:solidFill>
                <a:latin typeface="Calibri"/>
              </a:rPr>
              <a:t> Обратный порядок — самая распространённая трата времени в прикладном 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26B"/>
                </a:solidFill>
                <a:latin typeface="Calibri"/>
              </a:rPr>
              <a:t>Л.р. № 1, раздел 13: все четыре хода проверяются численно.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5 · ДАННЫЕ И РАЗМЕТКА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MQM: отраслевая схема оценки перевода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Категории ошибок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точность — смысл искажён, добавлен или потерян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беглость — нарушены нормы языка перевода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терминология — термин не тот, что принят в проекте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стиль — нарушен регистр или тон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разметка — сломаны плейсхолдеры, теги, форматирование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Степень серьёзности и вес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критическая (25) — продукт сломан или смысл противоположный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серьёзная (5) — пользователь введён в заблуждение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незначительная (1) — заметно специалисту, задачу не срывает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Веса неравномерны намеренно: они отражают </a:t>
            </a:r>
            <a:r>
              <a:rPr sz="1900" b="1">
                <a:solidFill>
                  <a:srgbClr val="1B2433"/>
                </a:solidFill>
                <a:latin typeface="Calibri"/>
              </a:rPr>
              <a:t>стоимость последствий</a:t>
            </a:r>
            <a:r>
              <a:rPr sz="1900" b="0">
                <a:solidFill>
                  <a:srgbClr val="1B2433"/>
                </a:solidFill>
                <a:latin typeface="Calibri"/>
              </a:rPr>
              <a:t>, а не частоту.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5 · ДАННЫЕ И РАЗМЕТКА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Согласие разметчиков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Разметка — это измерение, и у измерения есть надёжность. Если два человека размечают один материал по-разному, ненадёжна и разметка, и всё, что из неё выведено.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Каппа Коэна</a:t>
            </a:r>
            <a:r>
              <a:rPr sz="1900" b="0">
                <a:solidFill>
                  <a:srgbClr val="1B2433"/>
                </a:solidFill>
                <a:latin typeface="Calibri"/>
              </a:rPr>
              <a:t> — согласие с поправкой на случайные совпадения.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ниже 0.20 — согласия практически нет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0.41-0.60 — умеренное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выше 0.80 — почти полное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Низкая каппа — не признак небрежности, а </a:t>
            </a:r>
            <a:r>
              <a:rPr sz="1900" b="1">
                <a:solidFill>
                  <a:srgbClr val="1B2433"/>
                </a:solidFill>
                <a:latin typeface="Calibri"/>
              </a:rPr>
              <a:t>сигнал, что инструкция неоднозначна</a:t>
            </a:r>
            <a:r>
              <a:rPr sz="1900" b="0">
                <a:solidFill>
                  <a:srgbClr val="1B2433"/>
                </a:solidFill>
                <a:latin typeface="Calibri"/>
              </a:rPr>
              <a:t>. «Бэкап» вместо «резервной копии» — ошибка терминологии или стиля? Оба ответа защитимы, пока руководство не решило иначе. Написать это руководство — профессиональная задача.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26B"/>
                </a:solidFill>
                <a:latin typeface="Calibri"/>
              </a:rPr>
              <a:t>Л.р. № 3, задание 6: обмен разметкой и разбор расхождений.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03A2B"/>
                </a:solidFill>
                <a:latin typeface="Calibri"/>
              </a:rPr>
              <a:t>БЛОК 5 · ДАННЫЕ И РАЗМЕТКА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Права, персональные данные и загрязнение корпусов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Права на корпус.</a:t>
            </a:r>
            <a:r>
              <a:rPr sz="1900" b="0">
                <a:solidFill>
                  <a:srgbClr val="1B2433"/>
                </a:solidFill>
                <a:latin typeface="Calibri"/>
              </a:rPr>
              <a:t> Тексты из интернета не становятся свободными оттого, что доступны. У OPUS, Universal Dependencies и подобных ресурсов лицензии указаны явно — их надо читать.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Персональные данные.</a:t>
            </a:r>
            <a:r>
              <a:rPr sz="1900" b="0">
                <a:solidFill>
                  <a:srgbClr val="1B2433"/>
                </a:solidFill>
                <a:latin typeface="Calibri"/>
              </a:rPr>
              <a:t> Реальная переписка, тикеты поддержки и отзывы содержат имена, адреса, номера. Обезличивание — обязательный этап, а не пожелание.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1B2433"/>
                </a:solidFill>
                <a:latin typeface="Calibri"/>
              </a:rPr>
              <a:t>Следы машинного перевода.</a:t>
            </a:r>
            <a:r>
              <a:rPr sz="1900" b="0">
                <a:solidFill>
                  <a:srgbClr val="1B2433"/>
                </a:solidFill>
                <a:latin typeface="Calibri"/>
              </a:rPr>
              <a:t> Значительная часть параллельных корпусов из сети сама получена машинным переводом. Обучаясь на них, модель воспроизводит чужие ошибки, а оценка на них завышается.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900" b="0">
              <a:solidFill>
                <a:srgbClr val="1B2433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Умение сказать заказчику, что с корпусом что-то не так, — часть профессии, и её не заменит никакая метрика.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115568"/>
            <a:ext cx="10607040" cy="254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B4C6F"/>
                </a:solidFill>
                <a:latin typeface="Calibri"/>
              </a:rPr>
              <a:t>Что связывает все пять блоков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Машинное обучение не работает с языком — оно работает с числами, полученными из языка. </a:t>
            </a:r>
            <a:r>
              <a:rPr sz="1900" b="1">
                <a:solidFill>
                  <a:srgbClr val="1B2433"/>
                </a:solidFill>
                <a:latin typeface="Calibri"/>
              </a:rPr>
              <a:t>Качество этого перехода определяет всё остальное.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Три вещи, которые делает в этом процессе лингвист и не может сделать инженер: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решает, что считать единицей и как её нормализовать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решает, что считать ошибкой, и пишет об этом руководство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26B"/>
                </a:solidFill>
                <a:latin typeface="Calibri"/>
              </a:rPr>
              <a:t>– читает результат и объясняет, почему модель ошиблась именно так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endParaRPr sz="1600" b="0">
              <a:solidFill>
                <a:srgbClr val="5B626B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 b="0">
                <a:solidFill>
                  <a:srgbClr val="1B2433"/>
                </a:solidFill>
                <a:latin typeface="Calibri"/>
              </a:rPr>
              <a:t>• Всё это измеримо, и в лабораторных работах вы измерите каждое.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26B"/>
                </a:solidFill>
                <a:latin typeface="Calibri"/>
              </a:rPr>
              <a:t>Литература для желающих углубиться: Jurafsky &amp; Martin, Speech and Language Processing (3-е изд., доступно свободно).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3282</Words>
  <Application>Microsoft Office PowerPoint</Application>
  <PresentationFormat>Widescreen</PresentationFormat>
  <Paragraphs>259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никита конкин</cp:lastModifiedBy>
  <cp:revision>4</cp:revision>
  <dcterms:created xsi:type="dcterms:W3CDTF">2013-01-27T09:14:16Z</dcterms:created>
  <dcterms:modified xsi:type="dcterms:W3CDTF">2026-09-06T08:47:04Z</dcterms:modified>
  <cp:category/>
</cp:coreProperties>
</file>